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PIN Local Control Overlay: Optimization +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</a:defRPr>
            </a:pPr>
            <a:r>
              <a:t>Minimal-slide briefing: problem formulation, A/B evidence, and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05840"/>
            <a:ext cx="7360920" cy="2148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Courier New"/>
              </a:defRPr>
            </a:pPr>
            <a:r>
              <a:t>Per-radio constrained control (local only):</a:t>
            </a:r>
            <a:br/>
            <a:r>
              <a:t>a_t^(i) ~ π_θ(.|h_t^(i)),   h_t^(i) = (o_0:t^(i), a_0:t-1^(i))</a:t>
            </a:r>
            <a:br/>
            <a:r>
              <a:t>max_π  E[Σ_{t=0}^{T-1} γ^t r_t]</a:t>
            </a:r>
            <a:br/>
            <a:r>
              <a:t>s.t.  PDR_t^cmd ≥ p_min,   L95_t^cmd ≤ l_max,   Drop_t^cmd ≈ 0</a:t>
            </a:r>
            <a:br/>
            <a:r>
              <a:t>r_t = α·PDR_t^high - β·L95_t^high - δ·Drop_t^high + ζ·Deliveries_t^high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1005840"/>
            <a:ext cx="3840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323"/>
                </a:solidFill>
              </a:defRPr>
            </a:pPr>
            <a:r>
              <a:t>Decision objective: improve PDR and latency over scenario life with no waveform rewrite.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Control scope: each PIN agent controls only its local radio MAC.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Action vector (per class): service bias, admission threshold, CW aggressiveness.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Traffic classes: command, voice, best-effort.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401568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/>
            </a:pPr>
            <a:r>
              <a:t>Local observation window o_t^(i) (every 250 ms)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730752"/>
            <a:ext cx="62179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32323"/>
                </a:solidFill>
              </a:defRPr>
            </a:pPr>
            <a:r>
              <a:t>Queue length by class</a:t>
            </a:r>
          </a:p>
          <a:p>
            <a:pPr>
              <a:defRPr sz="1200">
                <a:solidFill>
                  <a:srgbClr val="232323"/>
                </a:solidFill>
              </a:defRPr>
            </a:pPr>
            <a:r>
              <a:t>TX attempts/success, retries, ACK timeouts by class</a:t>
            </a:r>
          </a:p>
          <a:p>
            <a:pPr>
              <a:defRPr sz="1200">
                <a:solidFill>
                  <a:srgbClr val="232323"/>
                </a:solidFill>
              </a:defRPr>
            </a:pPr>
            <a:r>
              <a:t>Drops + deliveries by class</a:t>
            </a:r>
          </a:p>
          <a:p>
            <a:pPr>
              <a:defRPr sz="1200">
                <a:solidFill>
                  <a:srgbClr val="232323"/>
                </a:solidFill>
              </a:defRPr>
            </a:pPr>
            <a:r>
              <a:t>Per-class p95 latency</a:t>
            </a:r>
          </a:p>
          <a:p>
            <a:pPr>
              <a:defRPr sz="1200">
                <a:solidFill>
                  <a:srgbClr val="232323"/>
                </a:solidFill>
              </a:defRPr>
            </a:pPr>
            <a:r>
              <a:t>Collisions, CCA busy fraction, mean backoff slots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Experiment Description and PIN I/O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</a:defRPr>
            </a:pPr>
            <a:r>
              <a:t>CSMA local-overlay validation setup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60120"/>
          <a:ext cx="60350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017520"/>
              </a:tblGrid>
              <a:tr h="360045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CSMA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Nodes / area /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 nodes / 150 m / 1.5 s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Traffic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Bernoulli, 1024-bit packets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Class 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Command 0.15, Voice 0.25, Best-effort 0.60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Control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250 ms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 episodes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Eval 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201, 202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A/B 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Baseline A0 (neutral) vs learned local policy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29400" y="960120"/>
            <a:ext cx="5166360" cy="2971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500"/>
            </a:pPr>
            <a:r>
              <a:t>Per-node control loop (local overlay)</a:t>
            </a:r>
          </a:p>
          <a:p>
            <a:pPr>
              <a:defRPr sz="1200"/>
            </a:pPr>
            <a:r>
              <a:t>1) collect LocalObservation at t</a:t>
            </a:r>
          </a:p>
          <a:p>
            <a:pPr>
              <a:defRPr sz="1200"/>
            </a:pPr>
            <a:r>
              <a:t>2) map obs to compact state bins (queue, busy, high-drop)</a:t>
            </a:r>
          </a:p>
          <a:p>
            <a:pPr>
              <a:defRPr sz="1200"/>
            </a:pPr>
            <a:r>
              <a:t>3) choose action template A0..A3</a:t>
            </a:r>
          </a:p>
          <a:p>
            <a:pPr>
              <a:defRPr sz="1200"/>
            </a:pPr>
            <a:r>
              <a:t>4) apply LocalAction to local MAC only</a:t>
            </a:r>
          </a:p>
          <a:p>
            <a:pPr>
              <a:defRPr sz="1200"/>
            </a:pPr>
            <a:r>
              <a:t>5) step 250 ms, observe reward, update policy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4069080"/>
          <a:ext cx="113842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466344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Service 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Admission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CW Aggressiveness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A0 Neutral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[1.0, 1.0, 1.0]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[1.0, 1.0, 1.0]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[1.0, 1.0, 1.0]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A1 Aggressive-priority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[1.8, 1.5, 0.5]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[1.0, 1.0, 0.25]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[0.75, 0.85, 1.35]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A2 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[1.4, 1.2, 0.8]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[1.0, 0.9, 0.45]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[0.85, 0.95, 1.15]</a:t>
                      </a:r>
                    </a:p>
                  </a:txBody>
                  <a:tcPr/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A3 Conservative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[1.2, 1.1, 0.9]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[0.9, 0.8, 0.35]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[0.95, 1.0, 1.2]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Seeded A/B Results: Baseline vs PIN-Controlled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</a:defRPr>
            </a:pPr>
            <a:r>
              <a:t>Aggregate KPIs and per-seed behavior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1138428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6070"/>
                <a:gridCol w="2846070"/>
                <a:gridCol w="2846070"/>
                <a:gridCol w="2846070"/>
              </a:tblGrid>
              <a:tr h="356616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Baseline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Controlled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Delta (C-B)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High-priority PDR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0.6979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-0.0016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High-priority p95 latency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8.9836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9.4497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+0.4662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Overall PDR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0.8270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+0.0077</a:t>
                      </a:r>
                    </a:p>
                  </a:txBody>
                  <a:tcPr/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Overall p95 latency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36.8898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31.2521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-5.6377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aggregate_kpi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816352"/>
            <a:ext cx="5623560" cy="2999232"/>
          </a:xfrm>
          <a:prstGeom prst="rect">
            <a:avLst/>
          </a:prstGeom>
        </p:spPr>
      </p:pic>
      <p:pic>
        <p:nvPicPr>
          <p:cNvPr id="6" name="Picture 5" descr="seed_level_pairwi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816352"/>
            <a:ext cx="5669280" cy="23810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199632"/>
            <a:ext cx="11201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Overall PDR improved (+0.0077) and overall p95 latency improved (-5.64 ms). High-priority KPIs are mixed in this small 2-seed evaluation.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Specific Improvement Scenario: Seed 202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</a:defRPr>
            </a:pPr>
            <a:r>
              <a:t>Selected seed 202 due to strongest combined high-priority PDR gain and overall latency reduction.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914400"/>
          <a:ext cx="5715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</a:tblGrid>
              <a:tr h="347472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Controlled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Delta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High-priority PDR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0.6972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0.7010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+0.0038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High-priority p95 latency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9.3991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9.6750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+0.2758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Overall PDR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0.8230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0.8398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+0.0169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Overall p95 latency 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36.1259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30.6193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0"/>
                      </a:pPr>
                      <a:r>
                        <a:t>-5.5065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55080" y="914400"/>
            <a:ext cx="539496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323"/>
                </a:solidFill>
              </a:defRPr>
            </a:pPr>
            <a:r>
              <a:t>Interval spotlight (t=250 ms window):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ΔHigh PDR +0.0255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ΔOverall PDR +0.0310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ΔOverall p95 latency -9.58 ms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ΔBest-effort queue -3.75</a:t>
            </a:r>
          </a:p>
          <a:p>
            <a:pPr>
              <a:defRPr sz="1100">
                <a:solidFill>
                  <a:srgbClr val="232323"/>
                </a:solidFill>
              </a:defRPr>
            </a:pPr>
            <a:r>
              <a:t>ΔBackoff +6.07</a:t>
            </a:r>
          </a:p>
        </p:txBody>
      </p:sp>
      <p:pic>
        <p:nvPicPr>
          <p:cNvPr id="6" name="Picture 5" descr="highlight_seed_trace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88920"/>
            <a:ext cx="5760720" cy="3744468"/>
          </a:xfrm>
          <a:prstGeom prst="rect">
            <a:avLst/>
          </a:prstGeom>
        </p:spPr>
      </p:pic>
      <p:pic>
        <p:nvPicPr>
          <p:cNvPr id="7" name="Picture 6" descr="highlight_seed_mechanis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788920"/>
            <a:ext cx="3931920" cy="1651406"/>
          </a:xfrm>
          <a:prstGeom prst="rect">
            <a:avLst/>
          </a:prstGeom>
        </p:spPr>
      </p:pic>
      <p:pic>
        <p:nvPicPr>
          <p:cNvPr id="8" name="Picture 7" descr="highlight_seed_action_us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2816352"/>
            <a:ext cx="1554480" cy="9892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1E1E"/>
                </a:solidFill>
              </a:defRPr>
            </a:pPr>
            <a:r>
              <a:t>Validation Outcome and Implications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472" y="566928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4646"/>
                </a:solidFill>
              </a:defRPr>
            </a:pPr>
            <a:r>
              <a:t>What this proves, what needs hardening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</a:defRPr>
            </a:pPr>
            <a:r>
              <a:t>Demonstrated: local PIN overlay can materially change scenario outcomes without global control.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Observed benefit in this run: better overall PDR and lower overall latency tail.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Important caveat: high-priority aggregate KPIs are mixed with current reward/action tuning.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Mechanism seen in highlight seed: reduced best-effort pressure and higher contention conservatism.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This is sufficient as a reportable proof-of-control-value demonstration, not final policy quality.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3246120"/>
          <a:ext cx="1115568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43434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Hardening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Next implementation step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Army realism: traffic/service classes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Keep class priorities explicit and scenario-driven mission mix.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PHY/MAC realism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Inject jamming/interference/mobility variability and richer link adaptation hooks.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PIN 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Add neighbor/link quality summaries and queue age to local telemetry vector.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Control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Constrain best-effort shedding + enforce command/voice minimum service guarantees.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t>Validation rigor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/>
                      </a:pPr>
                      <a:r>
                        <a:t>Scale evaluation seeds/scenarios and report confidence intervals, not point estimates.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/>
            </a:pPr>
            <a:r>
              <a:t>Artifacts: docs/pin_demo_metrics.json, docs/pin_demo_results.md, docs/figures/pin_demo/*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